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66760" y="0"/>
            <a:ext cx="3822191" cy="6858000"/>
          </a:xfrm>
          <a:prstGeom prst="rect">
            <a:avLst/>
          </a:prstGeom>
          <a:solidFill>
            <a:srgbClr val="1C314E"/>
          </a:solidFill>
          <a:ln>
            <a:solidFill>
              <a:srgbClr val="1C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109728" cy="443484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78992"/>
            <a:ext cx="68580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7040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41CAEB"/>
                </a:solidFill>
                <a:latin typeface="Aptos"/>
              </a:defRPr>
            </a:pPr>
            <a:r>
              <a:t>DASHBOARD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670048"/>
            <a:ext cx="6766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0">
                <a:solidFill>
                  <a:srgbClr val="CAD8EA"/>
                </a:solidFill>
                <a:latin typeface="Aptos"/>
              </a:defRPr>
            </a:pPr>
            <a:r>
              <a:t>Data analysis and business performance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3675887"/>
            <a:ext cx="4937760" cy="18288"/>
          </a:xfrm>
          <a:prstGeom prst="rect">
            <a:avLst/>
          </a:prstGeom>
          <a:solidFill>
            <a:srgbClr val="415571"/>
          </a:solidFill>
          <a:ln>
            <a:solidFill>
              <a:srgbClr val="415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977639"/>
            <a:ext cx="4023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ADC0D7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407408"/>
            <a:ext cx="69494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Orders  •  Customers  •  Returns  •  Delivery  • 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078992"/>
            <a:ext cx="2697480" cy="1024128"/>
          </a:xfrm>
          <a:prstGeom prst="roundRect">
            <a:avLst/>
          </a:prstGeom>
          <a:solidFill>
            <a:srgbClr val="243C5B"/>
          </a:solidFill>
          <a:ln>
            <a:solidFill>
              <a:srgbClr val="345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188719"/>
            <a:ext cx="2103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645919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41CAEB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450591"/>
            <a:ext cx="2697480" cy="1024128"/>
          </a:xfrm>
          <a:prstGeom prst="roundRect">
            <a:avLst/>
          </a:prstGeom>
          <a:solidFill>
            <a:srgbClr val="243C5B"/>
          </a:solidFill>
          <a:ln>
            <a:solidFill>
              <a:srgbClr val="345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560320"/>
            <a:ext cx="2103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301752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41CAE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822191"/>
            <a:ext cx="2697480" cy="1024128"/>
          </a:xfrm>
          <a:prstGeom prst="roundRect">
            <a:avLst/>
          </a:prstGeom>
          <a:solidFill>
            <a:srgbClr val="243C5B"/>
          </a:solidFill>
          <a:ln>
            <a:solidFill>
              <a:srgbClr val="345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931920"/>
            <a:ext cx="2103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295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438912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41CAEB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6053328"/>
            <a:ext cx="7132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ADC0D7"/>
                </a:solidFill>
                <a:latin typeface="Aptos"/>
              </a:defRPr>
            </a:pPr>
            <a:r>
              <a:t>Prepared from the supplied dashboard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989320"/>
            <a:ext cx="27889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400" b="1">
                <a:solidFill>
                  <a:srgbClr val="41CAEB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238"/>
                </a:solidFill>
                <a:latin typeface="Aptos"/>
              </a:defRPr>
            </a:pPr>
            <a:r>
              <a:t>01  |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Purpose, scope and questions addressed by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73152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72968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Turn e-commerce order data into a clear, at-a-glance view of sales operations and fulfilment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81328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81328"/>
            <a:ext cx="73152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2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11680"/>
            <a:ext cx="3172968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Help stakeholders spot order-status patterns, compare regions and delivery partners, and monitor returns.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81328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81328"/>
            <a:ext cx="73152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Dashboard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172968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Order volume, customer reach, return rate, delivery status, device usage, region and payment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657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132238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22191"/>
            <a:ext cx="1051560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How many orders and unique customers are represented?</a:t>
            </a:r>
          </a:p>
          <a:p>
            <a:pPr>
              <a:spcAft>
                <a:spcPts val="13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What is the distribution of orders by status and device?</a:t>
            </a:r>
          </a:p>
          <a:p>
            <a:pPr>
              <a:spcAft>
                <a:spcPts val="13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Which regions and delivery partners stand out?</a:t>
            </a:r>
          </a:p>
          <a:p>
            <a:pPr>
              <a:spcAft>
                <a:spcPts val="13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How are payment methods and return requests distributed?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996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627185"/>
                </a:solidFill>
                <a:latin typeface="Aptos"/>
              </a:defRPr>
            </a:pPr>
            <a:r>
              <a:t>Scope note: this presentation interprets the visible dashboard. Detailed row-level validation would require the source workbook.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02  |  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B9C9DD"/>
                </a:solidFill>
                <a:latin typeface="Aptos"/>
              </a:defRPr>
            </a:pPr>
            <a:r>
              <a:t>Original dashboard provided for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9C9D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9591" y="1353312"/>
            <a:ext cx="8932512" cy="5148072"/>
          </a:xfrm>
          <a:prstGeom prst="rect">
            <a:avLst/>
          </a:prstGeom>
          <a:solidFill>
            <a:srgbClr val="2B3C53"/>
          </a:solidFill>
          <a:ln>
            <a:solidFill>
              <a:srgbClr val="2B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10-13 023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67" y="1389888"/>
            <a:ext cx="885936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B9C9DD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238"/>
                </a:solidFill>
                <a:latin typeface="Aptos"/>
              </a:defRPr>
            </a:pPr>
            <a:r>
              <a:t>03  |  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Headline figures visible in the supplied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53218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508760"/>
            <a:ext cx="100584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73351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000" b="1">
                <a:solidFill>
                  <a:srgbClr val="132238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1691639"/>
            <a:ext cx="2834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73140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12264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Overall order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08760"/>
            <a:ext cx="53218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508760"/>
            <a:ext cx="100584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73351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000" b="1">
                <a:solidFill>
                  <a:srgbClr val="132238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691639"/>
            <a:ext cx="2834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73140"/>
                </a:solidFill>
                <a:latin typeface="Aptos"/>
              </a:defRPr>
            </a:pPr>
            <a:r>
              <a:t>Unique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112264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Distinct customers shown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10128"/>
            <a:ext cx="53218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310128"/>
            <a:ext cx="100584" cy="1417320"/>
          </a:xfrm>
          <a:prstGeom prst="rect">
            <a:avLst/>
          </a:prstGeom>
          <a:solidFill>
            <a:srgbClr val="229E69"/>
          </a:solidFill>
          <a:ln>
            <a:solidFill>
              <a:srgbClr val="22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474720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000" b="1">
                <a:solidFill>
                  <a:srgbClr val="132238"/>
                </a:solidFill>
                <a:latin typeface="Aptos"/>
              </a:defRPr>
            </a:pPr>
            <a:r>
              <a:t>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3493008"/>
            <a:ext cx="2834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73140"/>
                </a:solidFill>
                <a:latin typeface="Aptos"/>
              </a:defRPr>
            </a:pPr>
            <a:r>
              <a:t>Return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3913632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Displayed as 0.14; confirm format/definition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10128"/>
            <a:ext cx="53218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310128"/>
            <a:ext cx="100584" cy="141732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474720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000" b="1">
                <a:solidFill>
                  <a:srgbClr val="132238"/>
                </a:solidFill>
                <a:latin typeface="Aptos"/>
              </a:defRPr>
            </a:pPr>
            <a:r>
              <a:t>295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493008"/>
            <a:ext cx="2834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73140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913632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Delivered status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25780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238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273140"/>
                </a:solidFill>
                <a:latin typeface="Aptos"/>
              </a:defRPr>
            </a:pPr>
            <a:r>
              <a:t>These KPIs give a compact view of scale and fulfilment. The return-rate value is shown exactly as displayed and should be checked for whether it represents 14%, 0.14%, or a ratio.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238"/>
                </a:solidFill>
                <a:latin typeface="Aptos"/>
              </a:defRPr>
            </a:pPr>
            <a:r>
              <a:t>04  |  Order &amp; Channel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Order status and device mix help explain customer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508760"/>
            <a:ext cx="73152" cy="182880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55063"/>
            <a:ext cx="5001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Order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5001768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The status chart compares Delivered, Returned, Cancelled and In Transit orders. Delivered appears to be the largest category; follow-up should focus on reducing exceptions and tracking pending shipments.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5001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Device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001768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The dashboard compares Desktop Website, Mobile Website, iOS App and Android App. The bars appear equal at 100% in the screenshot, so the underlying measure or axis should be validated before drawing channel-share conclusions.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94760"/>
            <a:ext cx="3657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132238"/>
                </a:solidFill>
                <a:latin typeface="Aptos"/>
              </a:defRPr>
            </a:pPr>
            <a:r>
              <a:t>Recommended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1051560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Confirm whether status bars represent counts, percentages or a normalized scale.</a:t>
            </a:r>
          </a:p>
          <a:p>
            <a:pPr>
              <a:spcAft>
                <a:spcPts val="12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Compare conversion and return rates across website and app channels.</a:t>
            </a:r>
          </a:p>
          <a:p>
            <a:pPr>
              <a:spcAft>
                <a:spcPts val="1200"/>
              </a:spcAft>
              <a:defRPr sz="1500">
                <a:solidFill>
                  <a:srgbClr val="273140"/>
                </a:solidFill>
                <a:latin typeface="Aptos"/>
              </a:defRPr>
            </a:pPr>
            <a:r>
              <a:t>•  Review cancelled and in-transit orders by age to identify avoidable delays.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238"/>
                </a:solidFill>
                <a:latin typeface="Aptos"/>
              </a:defRPr>
            </a:pPr>
            <a:r>
              <a:t>05  |  Regional, Payment &amp; Delivery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Comparisons visible in the lower and right-side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73152" cy="182880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Regional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18688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Central appears to have the highest order count, followed by South and East. West and North are lower in the displayed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81328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481328"/>
            <a:ext cx="73152" cy="182880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27632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Payment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11680"/>
            <a:ext cx="3218688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The pie chart suggests a relatively balanced mix across Cash on Delivery, Net Banking, Debit Card, Credit Card and UPI.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81328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81328"/>
            <a:ext cx="73152" cy="1828800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Delivery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218688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50" b="0">
                <a:solidFill>
                  <a:srgbClr val="627185"/>
                </a:solidFill>
                <a:latin typeface="Aptos"/>
              </a:defRPr>
            </a:pPr>
            <a:r>
              <a:t>Average delivery days are compared for QuickShip, ParcelPro, National Post and SwiftRoute; the bars look broadly similar.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22191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132238"/>
                </a:solidFill>
                <a:latin typeface="Aptos"/>
              </a:defRPr>
            </a:pPr>
            <a:r>
              <a:t>How to use these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8"/>
            <a:ext cx="106070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450">
                <a:solidFill>
                  <a:srgbClr val="273140"/>
                </a:solidFill>
                <a:latin typeface="Aptos"/>
              </a:defRPr>
            </a:pPr>
            <a:r>
              <a:t>•  Investigate why the Central region leads and test whether the pattern is stable over time.</a:t>
            </a:r>
          </a:p>
          <a:p>
            <a:pPr>
              <a:spcAft>
                <a:spcPts val="1200"/>
              </a:spcAft>
              <a:defRPr sz="1450">
                <a:solidFill>
                  <a:srgbClr val="273140"/>
                </a:solidFill>
                <a:latin typeface="Aptos"/>
              </a:defRPr>
            </a:pPr>
            <a:r>
              <a:t>•  Compare payment mix with failed payments, cancellations and customer segment.</a:t>
            </a:r>
          </a:p>
          <a:p>
            <a:pPr>
              <a:spcAft>
                <a:spcPts val="1200"/>
              </a:spcAft>
              <a:defRPr sz="1450">
                <a:solidFill>
                  <a:srgbClr val="273140"/>
                </a:solidFill>
                <a:latin typeface="Aptos"/>
              </a:defRPr>
            </a:pPr>
            <a:r>
              <a:t>•  Use delivery-day differences alongside shipment volume and late-delivery rate—not in isolation.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06  |  Recommendations &amp;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B9C9DD"/>
                </a:solidFill>
                <a:latin typeface="Aptos"/>
              </a:defRPr>
            </a:pPr>
            <a:r>
              <a:t>Practical next steps to turn the dashboard into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9C9D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81360" cy="868680"/>
          </a:xfrm>
          <a:prstGeom prst="roundRect">
            <a:avLst/>
          </a:prstGeom>
          <a:solidFill>
            <a:srgbClr val="1C314E"/>
          </a:solidFill>
          <a:ln>
            <a:solidFill>
              <a:srgbClr val="36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1CA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2704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Validate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68580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CEDCED"/>
                </a:solidFill>
                <a:latin typeface="Aptos"/>
              </a:defRPr>
            </a:pPr>
            <a:r>
              <a:t>Document how Total Orders, Return Rate and Delivered Orders are calculated; confirm units and date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32888"/>
            <a:ext cx="10881360" cy="868680"/>
          </a:xfrm>
          <a:prstGeom prst="roundRect">
            <a:avLst/>
          </a:prstGeom>
          <a:solidFill>
            <a:srgbClr val="1C314E"/>
          </a:solidFill>
          <a:ln>
            <a:solidFill>
              <a:srgbClr val="36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15768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1CA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42616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Improve fulfilment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42616"/>
            <a:ext cx="68580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CEDCED"/>
                </a:solidFill>
                <a:latin typeface="Aptos"/>
              </a:defRPr>
            </a:pPr>
            <a:r>
              <a:t>Track in-transit ageing, delivery delays and cancellation reasons by partner and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48456"/>
            <a:ext cx="10881360" cy="868680"/>
          </a:xfrm>
          <a:prstGeom prst="roundRect">
            <a:avLst/>
          </a:prstGeom>
          <a:solidFill>
            <a:srgbClr val="1C314E"/>
          </a:solidFill>
          <a:ln>
            <a:solidFill>
              <a:srgbClr val="36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31336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1CA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58184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Segment customer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758184"/>
            <a:ext cx="68580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CEDCED"/>
                </a:solidFill>
                <a:latin typeface="Aptos"/>
              </a:defRPr>
            </a:pPr>
            <a:r>
              <a:t>Compare order frequency, returns and payment preferences across customer and device groups.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764024"/>
            <a:ext cx="10881360" cy="868680"/>
          </a:xfrm>
          <a:prstGeom prst="roundRect">
            <a:avLst/>
          </a:prstGeom>
          <a:solidFill>
            <a:srgbClr val="1C314E"/>
          </a:solidFill>
          <a:ln>
            <a:solidFill>
              <a:srgbClr val="36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46904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1CA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737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Add time-based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873752"/>
            <a:ext cx="68580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CEDCED"/>
                </a:solidFill>
                <a:latin typeface="Aptos"/>
              </a:defRPr>
            </a:pPr>
            <a:r>
              <a:t>Introduce daily/monthly order volume, return-rate trends and period-over-period comparisons.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B9C9DD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238"/>
                </a:solidFill>
                <a:latin typeface="Aptos"/>
              </a:defRPr>
            </a:pPr>
            <a:r>
              <a:t>07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50" b="0">
                <a:solidFill>
                  <a:srgbClr val="627185"/>
                </a:solidFill>
                <a:latin typeface="Aptos"/>
              </a:defRPr>
            </a:pPr>
            <a:r>
              <a:t>Summary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731520" cy="50292"/>
          </a:xfrm>
          <a:prstGeom prst="rect">
            <a:avLst/>
          </a:prstGeom>
          <a:solidFill>
            <a:srgbClr val="158BFF"/>
          </a:solidFill>
          <a:ln>
            <a:solidFill>
              <a:srgbClr val="1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6766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000" b="1">
                <a:solidFill>
                  <a:srgbClr val="132238"/>
                </a:solidFill>
                <a:latin typeface="Aptos"/>
              </a:defRPr>
            </a:pPr>
            <a:r>
              <a:t>Project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594360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273140"/>
                </a:solidFill>
                <a:latin typeface="Aptos"/>
              </a:defRPr>
            </a:pPr>
            <a:r>
              <a:t>The dashboard brings several operational measures into one view: order volume, customer reach, returns, order status, regional activity, payment methods and delivery partners.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9436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273140"/>
                </a:solidFill>
                <a:latin typeface="Aptos"/>
              </a:defRPr>
            </a:pPr>
            <a:r>
              <a:t>The next step is to validate metric definitions and connect the dashboard to reliable time-based comparisons so the team can track improvement.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81328"/>
            <a:ext cx="3794760" cy="4434840"/>
          </a:xfrm>
          <a:prstGeom prst="roundRect">
            <a:avLst/>
          </a:prstGeom>
          <a:solidFill>
            <a:srgbClr val="1C314E"/>
          </a:solidFill>
          <a:ln>
            <a:solidFill>
              <a:srgbClr val="1C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810512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Important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306324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DCE7F4"/>
                </a:solidFill>
                <a:latin typeface="Aptos"/>
              </a:defRPr>
            </a:pPr>
            <a:r>
              <a:t>•  Insights are based on the visible screenshot.</a:t>
            </a:r>
          </a:p>
          <a:p>
            <a:pPr>
              <a:spcAft>
                <a:spcPts val="1400"/>
              </a:spcAft>
              <a:defRPr sz="1200">
                <a:solidFill>
                  <a:srgbClr val="DCE7F4"/>
                </a:solidFill>
                <a:latin typeface="Aptos"/>
              </a:defRPr>
            </a:pPr>
            <a:r>
              <a:t>•  Underlying data rows and calculations were not independently audited.</a:t>
            </a:r>
          </a:p>
          <a:p>
            <a:pPr>
              <a:spcAft>
                <a:spcPts val="1400"/>
              </a:spcAft>
              <a:defRPr sz="1200">
                <a:solidFill>
                  <a:srgbClr val="DCE7F4"/>
                </a:solidFill>
                <a:latin typeface="Aptos"/>
              </a:defRPr>
            </a:pPr>
            <a:r>
              <a:t>•  Some chart labels/scales may need validation before formal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61447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158B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291072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27185"/>
                </a:solidFill>
                <a:latin typeface="Aptos"/>
              </a:defRPr>
            </a:pPr>
            <a:r>
              <a:t>E-Commerce Dashboard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73952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b="1">
                <a:solidFill>
                  <a:srgbClr val="627185"/>
                </a:solidFill>
                <a:latin typeface="Aptos"/>
              </a:defRPr>
            </a:pPr>
            <a:r>
              <a:t>Tanish Kushwaha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